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0E20"/>
              </a:gs>
              <a:gs pos="100000">
                <a:srgbClr val="060B1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280160"/>
            <a:ext cx="5486400" cy="5486400"/>
          </a:xfrm>
          <a:prstGeom prst="ellipse">
            <a:avLst/>
          </a:prstGeom>
          <a:solidFill>
            <a:srgbClr val="18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474720"/>
            <a:ext cx="5029200" cy="5029200"/>
          </a:xfrm>
          <a:prstGeom prst="ellipse">
            <a:avLst/>
          </a:prstGeom>
          <a:solidFill>
            <a:srgbClr val="0B1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371600" cy="118872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🛡  SECURE  ·  AI  ·  EXAM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51460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Segoe UI"/>
              </a:rPr>
              <a:t>SecureAIExam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DF2FC"/>
                </a:solidFill>
                <a:latin typeface="Segoe UI"/>
              </a:rPr>
              <a:t>Leak-proof examinations at national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5B8DF8"/>
                </a:solidFill>
                <a:latin typeface="Segoe UI"/>
              </a:rPr>
              <a:t>Cryptographic dual-control</a:t>
            </a:r>
            <a:r>
              <a:rPr sz="1500" b="0">
                <a:solidFill>
                  <a:srgbClr val="6C7EA1"/>
                </a:solidFill>
                <a:latin typeface="Segoe UI"/>
              </a:rPr>
              <a:t>   ·   </a:t>
            </a:r>
            <a:r>
              <a:rPr sz="1500" b="1">
                <a:solidFill>
                  <a:srgbClr val="22D3EE"/>
                </a:solidFill>
                <a:latin typeface="Segoe UI"/>
              </a:rPr>
              <a:t>Per-copy forensic identity</a:t>
            </a:r>
            <a:r>
              <a:rPr sz="1500" b="0">
                <a:solidFill>
                  <a:srgbClr val="6C7EA1"/>
                </a:solidFill>
                <a:latin typeface="Segoe UI"/>
              </a:rPr>
              <a:t>   ·   </a:t>
            </a:r>
            <a:r>
              <a:rPr sz="1500" b="1">
                <a:solidFill>
                  <a:srgbClr val="8B5CF6"/>
                </a:solidFill>
                <a:latin typeface="Segoe UI"/>
              </a:rPr>
              <a:t>Real-time chain of custody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DB0CE"/>
                </a:solidFill>
                <a:latin typeface="Segoe UI"/>
              </a:rPr>
              <a:t>Hackathon 2026</a:t>
            </a:r>
            <a:r>
              <a:rPr sz="1300" b="0">
                <a:solidFill>
                  <a:srgbClr val="6C7EA1"/>
                </a:solidFill>
                <a:latin typeface="Segoe UI"/>
              </a:rPr>
              <a:t>    github.com/dynagi/Exam-Security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Question-paper leaks are a national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700" b="1">
                <a:solidFill>
                  <a:srgbClr val="EDF2FC"/>
                </a:solidFill>
                <a:latin typeface="Segoe UI"/>
              </a:rPr>
              <a:t>NEET, UPSC &amp; Board leaks repeatedly derail exams</a:t>
            </a:r>
            <a:r>
              <a:rPr sz="1700" b="0">
                <a:solidFill>
                  <a:srgbClr val="9DB0CE"/>
                </a:solidFill>
                <a:latin typeface="Segoe UI"/>
              </a:rPr>
              <a:t>  —  for millions of aspirants each year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700" b="1">
                <a:solidFill>
                  <a:srgbClr val="EDF2FC"/>
                </a:solidFill>
                <a:latin typeface="Segoe UI"/>
              </a:rPr>
              <a:t>Leaks happen at every stage</a:t>
            </a:r>
            <a:r>
              <a:rPr sz="1700" b="0">
                <a:solidFill>
                  <a:srgbClr val="9DB0CE"/>
                </a:solidFill>
                <a:latin typeface="Segoe UI"/>
              </a:rPr>
              <a:t>  —  authoring, printing, transport, storage, the exam hall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700" b="1">
                <a:solidFill>
                  <a:srgbClr val="EDF2FC"/>
                </a:solidFill>
                <a:latin typeface="Segoe UI"/>
              </a:rPr>
              <a:t>Today's process trusts people and paper</a:t>
            </a:r>
            <a:r>
              <a:rPr sz="1700" b="0">
                <a:solidFill>
                  <a:srgbClr val="9DB0CE"/>
                </a:solidFill>
                <a:latin typeface="Segoe UI"/>
              </a:rPr>
              <a:t>  —  every stage is a single point of failure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700" b="1">
                <a:solidFill>
                  <a:srgbClr val="EDF2FC"/>
                </a:solidFill>
                <a:latin typeface="Segoe UI"/>
              </a:rPr>
              <a:t>Once a paper is out, it's untraceable</a:t>
            </a:r>
            <a:r>
              <a:rPr sz="1700" b="0">
                <a:solidFill>
                  <a:srgbClr val="9DB0CE"/>
                </a:solidFill>
                <a:latin typeface="Segoe UI"/>
              </a:rPr>
              <a:t>  —  no way to know which copy leaked or who held it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700" b="1">
                <a:solidFill>
                  <a:srgbClr val="EDF2FC"/>
                </a:solidFill>
                <a:latin typeface="Segoe UI"/>
              </a:rPr>
              <a:t>The fallout is brutal</a:t>
            </a:r>
            <a:r>
              <a:rPr sz="1700" b="0">
                <a:solidFill>
                  <a:srgbClr val="9DB0CE"/>
                </a:solidFill>
                <a:latin typeface="Segoe UI"/>
              </a:rPr>
              <a:t>  —  cancelled exams, eroded public trust, lost years for honest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What we set out to solve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228600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09728" cy="2286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>
                <a:solidFill>
                  <a:srgbClr val="EDF2FC"/>
                </a:solidFill>
                <a:latin typeface="Segoe UI"/>
              </a:rPr>
              <a:t>Design an end-to-end examination platform that makes a question-paper leak </a:t>
            </a:r>
            <a:r>
              <a:rPr sz="2100" b="1">
                <a:solidFill>
                  <a:srgbClr val="22D3EE"/>
                </a:solidFill>
                <a:latin typeface="Segoe UI"/>
              </a:rPr>
              <a:t>cryptographically hard before the exam</a:t>
            </a:r>
            <a:r>
              <a:rPr sz="2100" b="0">
                <a:solidFill>
                  <a:srgbClr val="EDF2FC"/>
                </a:solidFill>
                <a:latin typeface="Segoe UI"/>
              </a:rPr>
              <a:t> and </a:t>
            </a:r>
            <a:r>
              <a:rPr sz="2100" b="1">
                <a:solidFill>
                  <a:srgbClr val="5B8DF8"/>
                </a:solidFill>
                <a:latin typeface="Segoe UI"/>
              </a:rPr>
              <a:t>forensically traceable after it</a:t>
            </a:r>
            <a:r>
              <a:rPr sz="2100" b="0">
                <a:solidFill>
                  <a:srgbClr val="EDF2FC"/>
                </a:solidFill>
                <a:latin typeface="Segoe UI"/>
              </a:rPr>
              <a:t> — eliminating every single point of failure across authoring, sealing, printing, transport and the exam center, while proving accountability with a </a:t>
            </a:r>
            <a:r>
              <a:rPr sz="2100" b="1">
                <a:solidFill>
                  <a:srgbClr val="8B5CF6"/>
                </a:solidFill>
                <a:latin typeface="Segoe UI"/>
              </a:rPr>
              <a:t>tamper-evident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DB0CE"/>
                </a:solidFill>
                <a:latin typeface="Segoe UI"/>
              </a:rPr>
              <a:t>Success = </a:t>
            </a:r>
            <a:r>
              <a:rPr sz="1500" b="1">
                <a:solidFill>
                  <a:srgbClr val="34D399"/>
                </a:solidFill>
                <a:latin typeface="Segoe UI"/>
              </a:rPr>
              <a:t>prevention</a:t>
            </a:r>
            <a:r>
              <a:rPr sz="1500" b="0">
                <a:solidFill>
                  <a:srgbClr val="6C7EA1"/>
                </a:solidFill>
                <a:latin typeface="Segoe UI"/>
              </a:rPr>
              <a:t>  +  </a:t>
            </a:r>
            <a:r>
              <a:rPr sz="1500" b="1">
                <a:solidFill>
                  <a:srgbClr val="22D3EE"/>
                </a:solidFill>
                <a:latin typeface="Segoe UI"/>
              </a:rPr>
              <a:t>detection</a:t>
            </a:r>
            <a:r>
              <a:rPr sz="1500" b="0">
                <a:solidFill>
                  <a:srgbClr val="6C7EA1"/>
                </a:solidFill>
                <a:latin typeface="Segoe UI"/>
              </a:rPr>
              <a:t>  +  </a:t>
            </a:r>
            <a:r>
              <a:rPr sz="1500" b="1">
                <a:solidFill>
                  <a:srgbClr val="8B5CF6"/>
                </a:solidFill>
                <a:latin typeface="Segoe UI"/>
              </a:rPr>
              <a:t>accountability</a:t>
            </a:r>
            <a:r>
              <a:rPr sz="1500" b="0">
                <a:solidFill>
                  <a:srgbClr val="9DB0CE"/>
                </a:solidFill>
                <a:latin typeface="Segoe UI"/>
              </a:rPr>
              <a:t>   — engineered together, not bolted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WHY PARTIAL FIXES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Point solutions leave the door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700" b="1">
                <a:solidFill>
                  <a:srgbClr val="EDF2FC"/>
                </a:solidFill>
                <a:latin typeface="Segoe UI"/>
              </a:rPr>
              <a:t>Encryption alone</a:t>
            </a:r>
            <a:r>
              <a:rPr sz="1700" b="0">
                <a:solidFill>
                  <a:srgbClr val="9DB0CE"/>
                </a:solidFill>
                <a:latin typeface="Segoe UI"/>
              </a:rPr>
              <a:t>  —  one admin still holds the key — that's one point of failure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700" b="1">
                <a:solidFill>
                  <a:srgbClr val="EDF2FC"/>
                </a:solidFill>
                <a:latin typeface="Segoe UI"/>
              </a:rPr>
              <a:t>Watermarks alone</a:t>
            </a:r>
            <a:r>
              <a:rPr sz="1700" b="0">
                <a:solidFill>
                  <a:srgbClr val="9DB0CE"/>
                </a:solidFill>
                <a:latin typeface="Segoe UI"/>
              </a:rPr>
              <a:t>  —  they identify a leak, but never prevent early access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700" b="1">
                <a:solidFill>
                  <a:srgbClr val="EDF2FC"/>
                </a:solidFill>
                <a:latin typeface="Segoe UI"/>
              </a:rPr>
              <a:t>Manual custody registers</a:t>
            </a:r>
            <a:r>
              <a:rPr sz="1700" b="0">
                <a:solidFill>
                  <a:srgbClr val="9DB0CE"/>
                </a:solidFill>
                <a:latin typeface="Segoe UI"/>
              </a:rPr>
              <a:t>  —  forgeable, slow, and blind to real-time theft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700" b="1">
                <a:solidFill>
                  <a:srgbClr val="EDF2FC"/>
                </a:solidFill>
                <a:latin typeface="Segoe UI"/>
              </a:rPr>
              <a:t>Audit logs you can edit</a:t>
            </a:r>
            <a:r>
              <a:rPr sz="1700" b="0">
                <a:solidFill>
                  <a:srgbClr val="9DB0CE"/>
                </a:solidFill>
                <a:latin typeface="Segoe UI"/>
              </a:rPr>
              <a:t>  —  useless the moment an insider rewrites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11064240" cy="868680"/>
          </a:xfrm>
          <a:prstGeom prst="roundRect">
            <a:avLst/>
          </a:prstGeom>
          <a:solidFill>
            <a:srgbClr val="15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The gap: </a:t>
            </a:r>
            <a:r>
              <a:rPr sz="1600" b="0">
                <a:solidFill>
                  <a:srgbClr val="EDF2FC"/>
                </a:solidFill>
                <a:latin typeface="Segoe UI"/>
              </a:rPr>
              <a:t>no system combines dual-control prevention, per-copy forensics, live custody and tamper-proof accountability —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Remove every single point of failure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70048" cy="196596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82296" cy="1965960"/>
          </a:xfrm>
          <a:prstGeom prst="rect">
            <a:avLst/>
          </a:prstGeom>
          <a:solidFill>
            <a:srgbClr val="5B8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F2FC"/>
                </a:solidFill>
                <a:latin typeface="Segoe UI"/>
              </a:rPr>
              <a:t>Dual-control crypto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87752"/>
            <a:ext cx="232257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DB0CE"/>
                </a:solidFill>
                <a:latin typeface="Segoe UI"/>
              </a:rPr>
              <a:t>AES-256-GCM seal; key XOR-split between Setter &amp; Admin. No one person can open a paper.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965960"/>
            <a:ext cx="2670048" cy="196596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965960"/>
            <a:ext cx="82296" cy="19659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167128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F2FC"/>
                </a:solidFill>
                <a:latin typeface="Segoe UI"/>
              </a:rPr>
              <a:t>Per-copy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587752"/>
            <a:ext cx="232257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DB0CE"/>
                </a:solidFill>
                <a:latin typeface="Segoe UI"/>
              </a:rPr>
              <a:t>Every printed copy carries a signed QR + an invisible forensic fingerprint.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965960"/>
            <a:ext cx="2670048" cy="196596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965960"/>
            <a:ext cx="82296" cy="1965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167128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F2FC"/>
                </a:solidFill>
                <a:latin typeface="Segoe UI"/>
              </a:rPr>
              <a:t>Live chain of custody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587752"/>
            <a:ext cx="232257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DB0CE"/>
                </a:solidFill>
                <a:latin typeface="Segoe UI"/>
              </a:rPr>
              <a:t>Every handoff is scanned and streamed to admins over WebSockets in &lt;1s.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965960"/>
            <a:ext cx="2670048" cy="196596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965960"/>
            <a:ext cx="82296" cy="1965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167128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F2FC"/>
                </a:solidFill>
                <a:latin typeface="Segoe UI"/>
              </a:rPr>
              <a:t>Tamper-evident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587752"/>
            <a:ext cx="232257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DB0CE"/>
                </a:solidFill>
                <a:latin typeface="Segoe UI"/>
              </a:rPr>
              <a:t>Hash-chained, append-only history — any edit breaks every later hash.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DB0CE"/>
                </a:solidFill>
                <a:latin typeface="Segoe UI"/>
              </a:rPr>
              <a:t>Together they make a leak </a:t>
            </a:r>
            <a:r>
              <a:rPr sz="1700" b="1">
                <a:solidFill>
                  <a:srgbClr val="34D399"/>
                </a:solidFill>
                <a:latin typeface="Segoe UI"/>
              </a:rPr>
              <a:t>hard to commit</a:t>
            </a:r>
            <a:r>
              <a:rPr sz="1700" b="0">
                <a:solidFill>
                  <a:srgbClr val="9DB0CE"/>
                </a:solidFill>
                <a:latin typeface="Segoe UI"/>
              </a:rPr>
              <a:t>, </a:t>
            </a:r>
            <a:r>
              <a:rPr sz="1700" b="1">
                <a:solidFill>
                  <a:srgbClr val="22D3EE"/>
                </a:solidFill>
                <a:latin typeface="Segoe UI"/>
              </a:rPr>
              <a:t>impossible to hide</a:t>
            </a:r>
            <a:r>
              <a:rPr sz="1700" b="0">
                <a:solidFill>
                  <a:srgbClr val="9DB0CE"/>
                </a:solidFill>
                <a:latin typeface="Segoe UI"/>
              </a:rPr>
              <a:t>, and </a:t>
            </a:r>
            <a:r>
              <a:rPr sz="1700" b="1">
                <a:solidFill>
                  <a:srgbClr val="5B8DF8"/>
                </a:solidFill>
                <a:latin typeface="Segoe UI"/>
              </a:rPr>
              <a:t>trivial to trace.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KEY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The mechanisms behind leak-proofing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Split-key sealing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K = random AES-256 key, XOR-split; Setter + Admin passphrases both required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Signed + fingerprinted copies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HMAC-signed QR (forgeries rejected) + steganographic per-copy watermark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Real-time alarms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missing/unscanned copy → CRITICAL alert on every admin device in &lt;1 second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Pre-exam reconciliation sweep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unscanned copies auto-flagged ~20 min before the slot starts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Leak forensics from a photo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AI extracts the fingerprint → exact copy → full custody trail → exact holder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Hybrid AI PDF intake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Claude NLP imports questions from PDFs, with an offline parser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From question to exam hall — secured at every step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801368"/>
            <a:ext cx="310896" cy="310896"/>
          </a:xfrm>
          <a:prstGeom prst="ellipse">
            <a:avLst/>
          </a:prstGeom>
          <a:solidFill>
            <a:srgbClr val="5B8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46504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60B16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4650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F2FC"/>
                </a:solidFill>
                <a:latin typeface="Segoe UI"/>
              </a:rPr>
              <a:t>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6479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DB0CE"/>
                </a:solidFill>
                <a:latin typeface="Segoe UI"/>
              </a:rPr>
              <a:t>Teachers upload Qs (typed or AI PDF import); setter builds the paper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423160"/>
            <a:ext cx="310896" cy="310896"/>
          </a:xfrm>
          <a:prstGeom prst="ellipse">
            <a:avLst/>
          </a:prstGeom>
          <a:solidFill>
            <a:srgbClr val="5B8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368296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60B16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68296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F2FC"/>
                </a:solidFill>
                <a:latin typeface="Segoe UI"/>
              </a:rPr>
              <a:t>Seal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86584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DB0CE"/>
                </a:solidFill>
                <a:latin typeface="Segoe UI"/>
              </a:rPr>
              <a:t>Setter seals the paper with passphrase — share 1 of the key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044952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90088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60B16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9008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F2FC"/>
                </a:solidFill>
                <a:latin typeface="Segoe UI"/>
              </a:rPr>
              <a:t>Co-sign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08376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DB0CE"/>
                </a:solidFill>
                <a:latin typeface="Segoe UI"/>
              </a:rPr>
              <a:t>Admin co-signs — share 2. Now DUAL-SEALED: nobody can open it alone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3666744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611880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60B16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118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F2FC"/>
                </a:solidFill>
                <a:latin typeface="Segoe UI"/>
              </a:rPr>
              <a:t>Print ceremony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630168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DB0CE"/>
                </a:solidFill>
                <a:latin typeface="Segoe UI"/>
              </a:rPr>
              <a:t>Both passphrases → per-copy QR + invisible fingerprint minted</a:t>
            </a:r>
          </a:p>
        </p:txBody>
      </p:sp>
      <p:sp>
        <p:nvSpPr>
          <p:cNvPr id="22" name="Oval 21"/>
          <p:cNvSpPr/>
          <p:nvPr/>
        </p:nvSpPr>
        <p:spPr>
          <a:xfrm>
            <a:off x="566928" y="4288536"/>
            <a:ext cx="310896" cy="3108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233672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60B16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3367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F2FC"/>
                </a:solidFill>
                <a:latin typeface="Segoe UI"/>
              </a:rPr>
              <a:t>Custody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25196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DB0CE"/>
                </a:solidFill>
                <a:latin typeface="Segoe UI"/>
              </a:rPr>
              <a:t>Allocate to centers; invigilator scans each QR — admin notified live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" y="4910328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855464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60B16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8554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F2FC"/>
                </a:solidFill>
                <a:latin typeface="Segoe UI"/>
              </a:rPr>
              <a:t>Reconcile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873752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DB0CE"/>
                </a:solidFill>
                <a:latin typeface="Segoe UI"/>
              </a:rPr>
              <a:t>Unscanned copies → CRITICAL alert ~20 min before the slot</a:t>
            </a:r>
          </a:p>
        </p:txBody>
      </p:sp>
      <p:sp>
        <p:nvSpPr>
          <p:cNvPr id="30" name="Oval 29"/>
          <p:cNvSpPr/>
          <p:nvPr/>
        </p:nvSpPr>
        <p:spPr>
          <a:xfrm>
            <a:off x="566928" y="5532120"/>
            <a:ext cx="310896" cy="3108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477256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60B16"/>
                </a:solidFill>
                <a:latin typeface="Segoe U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477256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F2FC"/>
                </a:solidFill>
                <a:latin typeface="Segoe UI"/>
              </a:rPr>
              <a:t>Forensics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495544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DB0CE"/>
                </a:solidFill>
                <a:latin typeface="Segoe UI"/>
              </a:rPr>
              <a:t>A leaked photo is traced to the exact copy and its last holder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Three trust boundaries, one realtime backbone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86868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91440" cy="868680"/>
          </a:xfrm>
          <a:prstGeom prst="rect">
            <a:avLst/>
          </a:prstGeom>
          <a:solidFill>
            <a:srgbClr val="5B8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F2FC"/>
                </a:solidFill>
                <a:latin typeface="Segoe UI"/>
              </a:rPr>
              <a:t>Mobile — Expo / React 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B0CE"/>
                </a:solidFill>
                <a:latin typeface="Segoe UI"/>
              </a:rPr>
              <a:t>Teacher, Setter, Admin &amp; Invigilator UIs from one codebase (iOS · Android · Web)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16352"/>
            <a:ext cx="11064240" cy="86868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16352"/>
            <a:ext cx="91440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522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F2FC"/>
                </a:solidFill>
                <a:latin typeface="Segoe UI"/>
              </a:rPr>
              <a:t>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73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B0CE"/>
                </a:solidFill>
                <a:latin typeface="Segoe UI"/>
              </a:rPr>
              <a:t>Auth + JWT · Postgres with Row-Level Security · Realtime (WAL → WebSocket fan-out)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03904"/>
            <a:ext cx="11064240" cy="86868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03904"/>
            <a:ext cx="91440" cy="868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2277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F2FC"/>
                </a:solidFill>
                <a:latin typeface="Segoe UI"/>
              </a:rPr>
              <a:t>Node crypto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6110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B0CE"/>
                </a:solidFill>
                <a:latin typeface="Segoe UI"/>
              </a:rPr>
              <a:t>Sealing, co-sign &amp; print ceremonies — service-role only; secrets never touch a client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91456"/>
            <a:ext cx="11064240" cy="86868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91456"/>
            <a:ext cx="91440" cy="8686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103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F2FC"/>
                </a:solidFill>
                <a:latin typeface="Segoe UI"/>
              </a:rPr>
              <a:t>Python AI service (FastAPI)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4865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DB0CE"/>
                </a:solidFill>
                <a:latin typeface="Segoe UI"/>
              </a:rPr>
              <a:t>Steganographic fingerprinting · custody anomaly scoring · PDF question 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2D3EE"/>
                </a:solidFill>
                <a:latin typeface="Segoe UI"/>
              </a:rPr>
              <a:t>Why split? </a:t>
            </a:r>
            <a:r>
              <a:rPr sz="1350" b="0">
                <a:solidFill>
                  <a:srgbClr val="9DB0CE"/>
                </a:solidFill>
                <a:latin typeface="Segoe UI"/>
              </a:rPr>
              <a:t>secrets stay server-side, the app is untrusted, and AI scales independently on exam 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SECURITY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Threat →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✕  </a:t>
            </a:r>
            <a:r>
              <a:rPr sz="1400" b="1">
                <a:solidFill>
                  <a:srgbClr val="EDF2FC"/>
                </a:solidFill>
                <a:latin typeface="Segoe UI"/>
              </a:rPr>
              <a:t>Insider opens the paper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83080"/>
            <a:ext cx="6675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→  </a:t>
            </a:r>
            <a:r>
              <a:rPr sz="1350" b="0">
                <a:solidFill>
                  <a:srgbClr val="9DB0CE"/>
                </a:solidFill>
                <a:latin typeface="Segoe UI"/>
              </a:rPr>
              <a:t>Dual-control key split — no single passphrase decrypts anything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59736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✕  </a:t>
            </a:r>
            <a:r>
              <a:rPr sz="1400" b="1">
                <a:solidFill>
                  <a:srgbClr val="EDF2FC"/>
                </a:solidFill>
                <a:latin typeface="Segoe UI"/>
              </a:rPr>
              <a:t>Database breach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459736"/>
            <a:ext cx="6675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→  </a:t>
            </a:r>
            <a:r>
              <a:rPr sz="1350" b="0">
                <a:solidFill>
                  <a:srgbClr val="9DB0CE"/>
                </a:solidFill>
                <a:latin typeface="Segoe UI"/>
              </a:rPr>
              <a:t>Only ciphertext + passphrase-wrapped shares; RLS hides secrets from every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36392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✕  </a:t>
            </a:r>
            <a:r>
              <a:rPr sz="1400" b="1">
                <a:solidFill>
                  <a:srgbClr val="EDF2FC"/>
                </a:solidFill>
                <a:latin typeface="Segoe UI"/>
              </a:rPr>
              <a:t>Copy stolen in transit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136392"/>
            <a:ext cx="6675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→  </a:t>
            </a:r>
            <a:r>
              <a:rPr sz="1350" b="0">
                <a:solidFill>
                  <a:srgbClr val="9DB0CE"/>
                </a:solidFill>
                <a:latin typeface="Segoe UI"/>
              </a:rPr>
              <a:t>Per-copy custody chain — a missed checkpoint = instant alert + last holder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13048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✕  </a:t>
            </a:r>
            <a:r>
              <a:rPr sz="1400" b="1">
                <a:solidFill>
                  <a:srgbClr val="EDF2FC"/>
                </a:solidFill>
                <a:latin typeface="Segoe UI"/>
              </a:rPr>
              <a:t>Leaked photo on social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813048"/>
            <a:ext cx="6675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→  </a:t>
            </a:r>
            <a:r>
              <a:rPr sz="1350" b="0">
                <a:solidFill>
                  <a:srgbClr val="9DB0CE"/>
                </a:solidFill>
                <a:latin typeface="Segoe UI"/>
              </a:rPr>
              <a:t>Invisible fingerprint → exact copy → exact custody trail → exact person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9704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✕  </a:t>
            </a:r>
            <a:r>
              <a:rPr sz="1400" b="1">
                <a:solidFill>
                  <a:srgbClr val="EDF2FC"/>
                </a:solidFill>
                <a:latin typeface="Segoe UI"/>
              </a:rPr>
              <a:t>Forged 'official' copies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89704"/>
            <a:ext cx="6675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→  </a:t>
            </a:r>
            <a:r>
              <a:rPr sz="1350" b="0">
                <a:solidFill>
                  <a:srgbClr val="9DB0CE"/>
                </a:solidFill>
                <a:latin typeface="Segoe UI"/>
              </a:rPr>
              <a:t>QR payloads are HMAC-signed; verification fails for fakes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6636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87171"/>
                </a:solidFill>
                <a:latin typeface="Segoe UI"/>
              </a:rPr>
              <a:t>✕  </a:t>
            </a:r>
            <a:r>
              <a:rPr sz="1400" b="1">
                <a:solidFill>
                  <a:srgbClr val="EDF2FC"/>
                </a:solidFill>
                <a:latin typeface="Segoe UI"/>
              </a:rPr>
              <a:t>Log tampering to hide tracks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166360"/>
            <a:ext cx="6675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→  </a:t>
            </a:r>
            <a:r>
              <a:rPr sz="1350" b="0">
                <a:solidFill>
                  <a:srgbClr val="9DB0CE"/>
                </a:solidFill>
                <a:latin typeface="Segoe UI"/>
              </a:rPr>
              <a:t>Hash-chained, append-only audit log; any edit breaks every later 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Built to ship — and to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91440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91440" cy="914400"/>
          </a:xfrm>
          <a:prstGeom prst="rect">
            <a:avLst/>
          </a:prstGeom>
          <a:solidFill>
            <a:srgbClr val="5B8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0823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5B8DF8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20823"/>
            <a:ext cx="8321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DF2FC"/>
                </a:solidFill>
                <a:latin typeface="Segoe UI"/>
              </a:rPr>
              <a:t>React Native · Expo SDK 56 · one codebase → iOS, Android &amp; Web · premium glass UI, animated gradients, light/dark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16934"/>
            <a:ext cx="11064240" cy="91440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16934"/>
            <a:ext cx="91440" cy="914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3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Data &amp; Realtime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063238"/>
            <a:ext cx="8321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DF2FC"/>
                </a:solidFill>
                <a:latin typeface="Segoe UI"/>
              </a:rPr>
              <a:t>Supabase — Postgres, Row-Level Security, Realtime WebSockets, JWT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9349"/>
            <a:ext cx="11064240" cy="91440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59349"/>
            <a:ext cx="91440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05653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8B5CF6"/>
                </a:solidFill>
                <a:latin typeface="Segoe UI"/>
              </a:rPr>
              <a:t>Cryptography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105653"/>
            <a:ext cx="8321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DF2FC"/>
                </a:solidFill>
                <a:latin typeface="Segoe UI"/>
              </a:rPr>
              <a:t>Node.js · AES-256-GCM · scrypt key-wrap · HMAC-SHA256 · XOR key-split · hash-chained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01764"/>
            <a:ext cx="11064240" cy="91440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001764"/>
            <a:ext cx="91440" cy="914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4806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4D399"/>
                </a:solidFill>
                <a:latin typeface="Segoe UI"/>
              </a:rPr>
              <a:t>AI / Forensics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148068"/>
            <a:ext cx="8321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DF2FC"/>
                </a:solidFill>
                <a:latin typeface="Segoe UI"/>
              </a:rPr>
              <a:t>Python FastAPI · steganographic watermarking · custody anomaly scoring · Claude NLP (hybrid + offline)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The money 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Dual-seal, live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watch a paper flip to DUAL-SEALED across two devices the instant the admin co-signs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Scan-in, live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scan a copy's QR at the 'center' → admin dashboard pings instantly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Reconciliation alarm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leave a copy unscanned → CRITICAL alert fires before the slot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Report MISSING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one tap → red alert on every admin device in &lt;1 second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DF2FC"/>
                </a:solidFill>
                <a:latin typeface="Segoe UI"/>
              </a:rPr>
              <a:t>Open the audit log</a:t>
            </a:r>
            <a:r>
              <a:rPr sz="1600" b="0">
                <a:solidFill>
                  <a:srgbClr val="9DB0CE"/>
                </a:solidFill>
                <a:latin typeface="Segoe UI"/>
              </a:rPr>
              <a:t>  —  the hash-chained, tamper-evident story of everything that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IMPACT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Why it matters — and that it holds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HUMAN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50" b="1">
                <a:solidFill>
                  <a:srgbClr val="EDF2FC"/>
                </a:solidFill>
                <a:latin typeface="Segoe UI"/>
              </a:rPr>
              <a:t>Protects millions of aspirants</a:t>
            </a:r>
            <a:r>
              <a:rPr sz="1450" b="0">
                <a:solidFill>
                  <a:srgbClr val="9DB0CE"/>
                </a:solidFill>
                <a:latin typeface="Segoe UI"/>
              </a:rPr>
              <a:t>  —  from cancelled, compromised, re-scheduled exams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50" b="1">
                <a:solidFill>
                  <a:srgbClr val="EDF2FC"/>
                </a:solidFill>
                <a:latin typeface="Segoe UI"/>
              </a:rPr>
              <a:t>Restores trust in the system</a:t>
            </a:r>
            <a:r>
              <a:rPr sz="1450" b="0">
                <a:solidFill>
                  <a:srgbClr val="9DB0CE"/>
                </a:solidFill>
                <a:latin typeface="Segoe UI"/>
              </a:rPr>
              <a:t>  —  leaks become provable, attributable, rare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34D399"/>
                </a:solidFill>
                <a:latin typeface="Segoe UI"/>
              </a:rPr>
              <a:t>▸  </a:t>
            </a:r>
            <a:r>
              <a:rPr sz="1450" b="1">
                <a:solidFill>
                  <a:srgbClr val="EDF2FC"/>
                </a:solidFill>
                <a:latin typeface="Segoe UI"/>
              </a:rPr>
              <a:t>Runs on existing devices</a:t>
            </a:r>
            <a:r>
              <a:rPr sz="1450" b="0">
                <a:solidFill>
                  <a:srgbClr val="9DB0CE"/>
                </a:solidFill>
                <a:latin typeface="Segoe UI"/>
              </a:rPr>
              <a:t>  —  invigilators just use a phone 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ENGINEERING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450" b="1">
                <a:solidFill>
                  <a:srgbClr val="EDF2FC"/>
                </a:solidFill>
                <a:latin typeface="Segoe UI"/>
              </a:rPr>
              <a:t>Custody scans are single-row inserts</a:t>
            </a:r>
            <a:r>
              <a:rPr sz="1450" b="0">
                <a:solidFill>
                  <a:srgbClr val="9DB0CE"/>
                </a:solidFill>
                <a:latin typeface="Segoe UI"/>
              </a:rPr>
              <a:t>  —  tens of thousands/min; partition by exam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450" b="1">
                <a:solidFill>
                  <a:srgbClr val="EDF2FC"/>
                </a:solidFill>
                <a:latin typeface="Segoe UI"/>
              </a:rPr>
              <a:t>Stateless AI &amp; crypto services</a:t>
            </a:r>
            <a:r>
              <a:rPr sz="1450" b="0">
                <a:solidFill>
                  <a:srgbClr val="9DB0CE"/>
                </a:solidFill>
                <a:latin typeface="Segoe UI"/>
              </a:rPr>
              <a:t>  —  horizontal scale behind a load balancer on exam day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450" b="1">
                <a:solidFill>
                  <a:srgbClr val="EDF2FC"/>
                </a:solidFill>
                <a:latin typeface="Segoe UI"/>
              </a:rPr>
              <a:t>Realtime fan-out is filtered per-JWT</a:t>
            </a:r>
            <a:r>
              <a:rPr sz="1450" b="0">
                <a:solidFill>
                  <a:srgbClr val="9DB0CE"/>
                </a:solidFill>
                <a:latin typeface="Segoe UI"/>
              </a:rPr>
              <a:t>  —  admins subscribe only to their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0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457200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9264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DF2FC"/>
                </a:solidFill>
                <a:latin typeface="Segoe UI"/>
              </a:rPr>
              <a:t>Honest about demo trade-offs →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91440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66544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Now  </a:t>
            </a:r>
            <a:r>
              <a:rPr sz="1400" b="1">
                <a:solidFill>
                  <a:srgbClr val="EDF2FC"/>
                </a:solidFill>
                <a:latin typeface="Segoe UI"/>
              </a:rPr>
              <a:t>Escrow window between seal &amp; co-sign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19456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66544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Prod  </a:t>
            </a:r>
            <a:r>
              <a:rPr sz="1350" b="0">
                <a:solidFill>
                  <a:srgbClr val="9DB0CE"/>
                </a:solidFill>
                <a:latin typeface="Segoe UI"/>
              </a:rPr>
              <a:t>shareB → Admin hardware token / true Shamir t-of-n with an HSM ceremony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5"/>
            <a:ext cx="11064240" cy="91440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59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Now  </a:t>
            </a:r>
            <a:r>
              <a:rPr sz="1400" b="1">
                <a:solidFill>
                  <a:srgbClr val="EDF2FC"/>
                </a:solidFill>
                <a:latin typeface="Segoe UI"/>
              </a:rPr>
              <a:t>LSB watermark (demo)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36975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08959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Prod  </a:t>
            </a:r>
            <a:r>
              <a:rPr sz="1350" b="0">
                <a:solidFill>
                  <a:srgbClr val="9DB0CE"/>
                </a:solidFill>
                <a:latin typeface="Segoe UI"/>
              </a:rPr>
              <a:t>robust DCT/DWT watermarking that survives print → photograph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05070"/>
            <a:ext cx="11064240" cy="91440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51374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Now  </a:t>
            </a:r>
            <a:r>
              <a:rPr sz="1400" b="1">
                <a:solidFill>
                  <a:srgbClr val="EDF2FC"/>
                </a:solidFill>
                <a:latin typeface="Segoe UI"/>
              </a:rPr>
              <a:t>Self-selected roles (demo)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27939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51374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Prod  </a:t>
            </a:r>
            <a:r>
              <a:rPr sz="1350" b="0">
                <a:solidFill>
                  <a:srgbClr val="9DB0CE"/>
                </a:solidFill>
                <a:latin typeface="Segoe UI"/>
              </a:rPr>
              <a:t>invite-only provisioning by the examination 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47485"/>
            <a:ext cx="11064240" cy="914400"/>
          </a:xfrm>
          <a:prstGeom prst="roundRect">
            <a:avLst/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93789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Now  </a:t>
            </a:r>
            <a:r>
              <a:rPr sz="1400" b="1">
                <a:solidFill>
                  <a:srgbClr val="EDF2FC"/>
                </a:solidFill>
                <a:latin typeface="Segoe UI"/>
              </a:rPr>
              <a:t>Plaintext question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321805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D3EE"/>
                </a:solidFill>
                <a:latin typeface="Segoe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193789"/>
            <a:ext cx="5120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Prod  </a:t>
            </a:r>
            <a:r>
              <a:rPr sz="1350" b="0">
                <a:solidFill>
                  <a:srgbClr val="9DB0CE"/>
                </a:solidFill>
                <a:latin typeface="Segoe UI"/>
              </a:rPr>
              <a:t>purge or re-encrypt the bank after sealing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SecureAIExam</a:t>
            </a:r>
            <a:r>
              <a:rPr sz="1000" b="0">
                <a:solidFill>
                  <a:srgbClr val="6C7EA1"/>
                </a:solidFill>
                <a:latin typeface="Segoe UI"/>
              </a:rPr>
              <a:t>  ·  leak-proof examinations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008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6C7EA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70E20"/>
              </a:gs>
              <a:gs pos="100000">
                <a:srgbClr val="060B1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2011680"/>
            <a:ext cx="5486400" cy="5486400"/>
          </a:xfrm>
          <a:prstGeom prst="ellipse">
            <a:avLst/>
          </a:prstGeom>
          <a:solidFill>
            <a:srgbClr val="161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1371600" cy="118872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50000">
                <a:srgbClr val="5B8DF8"/>
              </a:gs>
              <a:gs pos="100000">
                <a:srgbClr val="8B5CF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5146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Make leaks </a:t>
            </a:r>
            <a:r>
              <a:rPr sz="4000" b="1">
                <a:solidFill>
                  <a:srgbClr val="22D3EE"/>
                </a:solidFill>
                <a:latin typeface="Segoe UI"/>
              </a:rPr>
              <a:t>cryptographically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2918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— and </a:t>
            </a:r>
            <a:r>
              <a:rPr sz="4000" b="1">
                <a:solidFill>
                  <a:srgbClr val="5B8DF8"/>
                </a:solidFill>
                <a:latin typeface="Segoe UI"/>
              </a:rPr>
              <a:t>forensically traceable.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DF2FC"/>
                </a:solidFill>
                <a:latin typeface="Segoe UI"/>
              </a:rPr>
              <a:t>SecureAIExam</a:t>
            </a:r>
            <a:r>
              <a:rPr sz="1600" b="0">
                <a:solidFill>
                  <a:srgbClr val="9DB0CE"/>
                </a:solidFill>
                <a:latin typeface="Segoe UI"/>
              </a:rPr>
              <a:t>  ·  dual-control · per-copy forensics · live custody · tamper-proof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8B5CF6"/>
                </a:solidFill>
                <a:latin typeface="Segoe UI"/>
              </a:rPr>
              <a:t>Thank you  — 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C7EA1"/>
                </a:solidFill>
                <a:latin typeface="Segoe UI"/>
              </a:rPr>
              <a:t>github.com/dynagi/Exam-Security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